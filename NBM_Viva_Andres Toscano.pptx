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8B960-80D1-22A8-E0D8-369BEB623AB3}" v="315" dt="2026-05-07T07:51:03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F8D45-D051-451D-A881-2C93984F281C}" type="datetimeFigureOut">
              <a:t>5/7/2026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2AA14-E255-4065-8D1D-F8583D6BDBC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45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365760" y="1097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</a:rPr>
              <a:t>NBM IT Infrastructure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4A90D9"/>
                </a:solidFill>
              </a:rPr>
              <a:t>Design &amp; Implementation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6E5"/>
                </a:solidFill>
              </a:rPr>
              <a:t>Viva Presentation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8A9BB0"/>
                </a:solidFill>
              </a:rPr>
              <a:t>File Server &amp; Web Server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691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Andres Toscano  |  t018563n  |  Staffordshire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00607" y="228600"/>
            <a:ext cx="6410557" cy="51908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A90D9"/>
                </a:solidFill>
              </a:rPr>
              <a:t>PROJECT OVERVIEW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4851" y="1150527"/>
            <a:ext cx="621792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851" y="1150527"/>
            <a:ext cx="73152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731" y="119624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7731" y="1424847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New Business Machine Ltd. (NBM) — e-commerce platform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4851" y="1900335"/>
            <a:ext cx="621792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851" y="1900335"/>
            <a:ext cx="73152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731" y="194605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Scale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7731" y="2174655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3,000 → 15,000 → 25,000 users within one year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4851" y="2650143"/>
            <a:ext cx="621792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851" y="2650143"/>
            <a:ext cx="73152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731" y="269586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Systems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7731" y="2924463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File Server (Samba) + Web Server (Apache)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4851" y="3417960"/>
            <a:ext cx="621792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851" y="3417960"/>
            <a:ext cx="73152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731" y="3463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Security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7731" y="369228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HTTPS, UFW Firewall, Samba Auth, Automated Backups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65760" y="228600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A90D9"/>
                </a:solidFill>
              </a:rPr>
              <a:t>SYSTEM 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3017520" cy="10515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50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4A90D9"/>
                </a:solidFill>
              </a:rPr>
              <a:t>Structure</a:t>
            </a:r>
            <a:endParaRPr lang="en-US" sz="1100" b="1">
              <a:solidFill>
                <a:srgbClr val="4A90D9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1247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Admins: connect internally via GUI to manage servers Customers: access NBM e-commerce portal via internet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017520" cy="10515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Web 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Apache on Ubuntu — hosts NBM e-commerce portal over HTTPS (port 443)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3017520" cy="10515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9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File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935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Samba on Ubuntu — </a:t>
            </a:r>
            <a:r>
              <a:rPr lang="en-US" sz="900">
                <a:solidFill>
                  <a:srgbClr val="FFFFFF"/>
                </a:solidFill>
              </a:rPr>
              <a:t>centralized</a:t>
            </a:r>
            <a:r>
              <a:rPr lang="en-US" sz="900" dirty="0">
                <a:solidFill>
                  <a:srgbClr val="FFFFFF"/>
                </a:solidFill>
              </a:rPr>
              <a:t> storage, admin-only access with authentication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14850" y="777240"/>
            <a:ext cx="3087216" cy="1232767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4132" y="780698"/>
            <a:ext cx="2834640" cy="30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4A90D9"/>
                </a:solidFill>
              </a:rPr>
              <a:t>Backup server 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4132" y="1194407"/>
            <a:ext cx="2834640" cy="67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  <a:ea typeface="+mn-lt"/>
                <a:cs typeface="+mn-lt"/>
              </a:rPr>
              <a:t>Backup directory created on file server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9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900" dirty="0">
                <a:solidFill>
                  <a:srgbClr val="FFFFFF"/>
                </a:solidFill>
                <a:ea typeface="+mn-lt"/>
                <a:cs typeface="+mn-lt"/>
              </a:rPr>
              <a:t>Files automatically copied daily at 2AM via </a:t>
            </a:r>
            <a:r>
              <a:rPr lang="en-US" sz="900" dirty="0" err="1">
                <a:solidFill>
                  <a:srgbClr val="FFFFFF"/>
                </a:solidFill>
                <a:ea typeface="+mn-lt"/>
                <a:cs typeface="+mn-lt"/>
              </a:rPr>
              <a:t>cron</a:t>
            </a:r>
            <a:r>
              <a:rPr lang="en-US" sz="900" dirty="0">
                <a:solidFill>
                  <a:srgbClr val="FFFFFF"/>
                </a:solidFill>
                <a:ea typeface="+mn-lt"/>
                <a:cs typeface="+mn-lt"/>
              </a:rPr>
              <a:t> job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9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900" dirty="0">
                <a:solidFill>
                  <a:srgbClr val="FFFFFF"/>
                </a:solidFill>
                <a:ea typeface="+mn-lt"/>
                <a:cs typeface="+mn-lt"/>
              </a:rPr>
              <a:t>Ensures data recovery in case of deletion, failure or ransomware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0605" y="2652875"/>
            <a:ext cx="3017521" cy="123973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3827" y="26911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3827" y="2693689"/>
            <a:ext cx="2834640" cy="122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Lab environment: /24 (254 addresses)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9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3,000 users: /20 (4,094 addresses)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9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25,000 users: /17 (32,766 addresses)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7824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65760" y="228600"/>
            <a:ext cx="64008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A90D9"/>
                </a:solidFill>
              </a:rPr>
              <a:t>SECURITY IMPLEMENTATION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4023360" cy="114300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777240"/>
            <a:ext cx="40233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13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HTTPS / TLS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143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FFFFFF"/>
                </a:solidFill>
              </a:rPr>
              <a:t>Apache SSL module enabled, Self-signed certificate on port 443. </a:t>
            </a:r>
            <a:endParaRPr lang="en-US" sz="900" dirty="0">
              <a:solidFill>
                <a:srgbClr val="000000"/>
              </a:solidFill>
            </a:endParaRPr>
          </a:p>
          <a:p>
            <a:r>
              <a:rPr lang="en-US" sz="900">
                <a:solidFill>
                  <a:srgbClr val="FFFFFF"/>
                </a:solidFill>
              </a:rPr>
              <a:t>Encrypts all </a:t>
            </a:r>
            <a:r>
              <a:rPr lang="en-US" sz="900" dirty="0">
                <a:solidFill>
                  <a:srgbClr val="FFFFFF"/>
                </a:solidFill>
              </a:rPr>
              <a:t>data in transit.</a:t>
            </a:r>
            <a:endParaRPr lang="en-US" sz="900"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4023360" cy="114300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77240"/>
            <a:ext cx="40233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13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UFW Firewall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143000"/>
            <a:ext cx="3749040" cy="78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Web server port 443 — open to all (public internet access for customers)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File server port 445 — restricted to internal subnet 192.168.221.0/24 (admins only)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Web server management (SSH) — restricted to internal subnet only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4023360" cy="114300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48840"/>
            <a:ext cx="40233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185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Samba Auth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514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Administrator accounts required. Username/password authentication before file access.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4023360" cy="114300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148840"/>
            <a:ext cx="40233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85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Backup 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514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Cron job runs daily at 2AM. Files copied from /fileshare to /backup automatically.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9339" y="3569227"/>
            <a:ext cx="4023360" cy="114300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9339" y="3569227"/>
            <a:ext cx="40233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6499" y="3605803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Access Control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6499" y="3934987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FFFFFF"/>
                </a:solidFill>
              </a:rPr>
              <a:t>ACL rules on router external customers cannot access internal network or file </a:t>
            </a:r>
            <a:r>
              <a:rPr lang="en-US" sz="900" dirty="0">
                <a:solidFill>
                  <a:srgbClr val="FFFFFF"/>
                </a:solidFill>
              </a:rPr>
              <a:t>server.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7824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86669" y="305265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A90D9"/>
                </a:solidFill>
              </a:rPr>
              <a:t>TESTING &amp; RESULTS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6669" y="910107"/>
            <a:ext cx="832104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109" y="92839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89789" y="928395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69949" y="928395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Detail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6669" y="1257579"/>
            <a:ext cx="8321040" cy="56692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109" y="136730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Web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89789" y="136730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084"/>
                </a:solidFill>
              </a:rPr>
              <a:t>PASS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69949" y="136730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</a:rPr>
              <a:t>NBM portal loaded via browser at 192.168.221.134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6669" y="1879371"/>
            <a:ext cx="8321040" cy="5669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109" y="198909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HTTPS (TLS)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89789" y="198909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084"/>
                </a:solidFill>
              </a:rPr>
              <a:t>PASS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69949" y="1989099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</a:rPr>
              <a:t>Site served over port 443 with self-signed certificate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6669" y="2501163"/>
            <a:ext cx="8321040" cy="56692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109" y="261089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File Server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89789" y="261089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084"/>
                </a:solidFill>
              </a:rPr>
              <a:t>PASS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69949" y="2610891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</a:rPr>
              <a:t>Samba authentication prompted, files uploaded/downloaded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6669" y="3122955"/>
            <a:ext cx="8321040" cy="5669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109" y="323268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Firewall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89789" y="3232683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084"/>
                </a:solidFill>
              </a:rPr>
              <a:t>PASS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9949" y="323268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</a:rPr>
              <a:t>Only ports 443 and 445 open, external access blocked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6669" y="3744747"/>
            <a:ext cx="8321040" cy="56692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109" y="385447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Backup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89789" y="3854475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084"/>
                </a:solidFill>
              </a:rPr>
              <a:t>PASS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69949" y="3854475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6E5"/>
                </a:solidFill>
              </a:rPr>
              <a:t>Files successfully copied to /backup directory via cron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7824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6576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A90D9"/>
                </a:solidFill>
              </a:rPr>
              <a:t>LIMITATIONS &amp; FUTURE IMPROVEMENTS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0" y="845653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084"/>
                </a:solidFill>
              </a:rPr>
              <a:t>Future Improvement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87047"/>
            <a:ext cx="3931920" cy="548640"/>
          </a:xfrm>
          <a:prstGeom prst="rect">
            <a:avLst/>
          </a:prstGeom>
          <a:solidFill>
            <a:srgbClr val="992F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187047"/>
            <a:ext cx="4114800" cy="548640"/>
          </a:xfrm>
          <a:prstGeom prst="rect">
            <a:avLst/>
          </a:prstGeom>
          <a:solidFill>
            <a:srgbClr val="0A2010"/>
          </a:solidFill>
          <a:ln w="12700">
            <a:solidFill>
              <a:srgbClr val="1A4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78487"/>
            <a:ext cx="3657600" cy="365760"/>
          </a:xfrm>
          <a:prstGeom prst="rect">
            <a:avLst/>
          </a:prstGeom>
          <a:solidFill>
            <a:srgbClr val="992F2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Self-signed SSL certificate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127848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00D084"/>
                </a:solidFill>
              </a:rPr>
              <a:t>Replace with a trusted certificate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65760" y="1845415"/>
            <a:ext cx="3931920" cy="548640"/>
          </a:xfrm>
          <a:prstGeom prst="rect">
            <a:avLst/>
          </a:prstGeom>
          <a:solidFill>
            <a:srgbClr val="992F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845415"/>
            <a:ext cx="4114800" cy="548640"/>
          </a:xfrm>
          <a:prstGeom prst="rect">
            <a:avLst/>
          </a:prstGeom>
          <a:solidFill>
            <a:srgbClr val="0A2010"/>
          </a:solidFill>
          <a:ln w="12700">
            <a:solidFill>
              <a:srgbClr val="1A4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936855"/>
            <a:ext cx="3657600" cy="365760"/>
          </a:xfrm>
          <a:prstGeom prst="rect">
            <a:avLst/>
          </a:prstGeom>
          <a:solidFill>
            <a:srgbClr val="992F2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Manual admin account management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93685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084"/>
                </a:solidFill>
              </a:rPr>
              <a:t>Implement Active Directory or LDAP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03783"/>
            <a:ext cx="3931920" cy="548640"/>
          </a:xfrm>
          <a:prstGeom prst="rect">
            <a:avLst/>
          </a:prstGeom>
          <a:solidFill>
            <a:srgbClr val="992F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503783"/>
            <a:ext cx="4114800" cy="548640"/>
          </a:xfrm>
          <a:prstGeom prst="rect">
            <a:avLst/>
          </a:prstGeom>
          <a:solidFill>
            <a:srgbClr val="0A2010"/>
          </a:solidFill>
          <a:ln w="12700">
            <a:solidFill>
              <a:srgbClr val="1A4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95223"/>
            <a:ext cx="3657600" cy="365760"/>
          </a:xfrm>
          <a:prstGeom prst="rect">
            <a:avLst/>
          </a:prstGeom>
          <a:solidFill>
            <a:srgbClr val="992F2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/24 subnet (254 addresses)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2595223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084"/>
                </a:solidFill>
              </a:rPr>
              <a:t>/20 for 3,000 users → /17 for 25,000 users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62151"/>
            <a:ext cx="3931920" cy="548640"/>
          </a:xfrm>
          <a:prstGeom prst="rect">
            <a:avLst/>
          </a:prstGeom>
          <a:solidFill>
            <a:srgbClr val="992F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162151"/>
            <a:ext cx="4114800" cy="548640"/>
          </a:xfrm>
          <a:prstGeom prst="rect">
            <a:avLst/>
          </a:prstGeom>
          <a:solidFill>
            <a:srgbClr val="0A2010"/>
          </a:solidFill>
          <a:ln w="12700">
            <a:solidFill>
              <a:srgbClr val="1A4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53591"/>
            <a:ext cx="3657600" cy="365760"/>
          </a:xfrm>
          <a:prstGeom prst="rect">
            <a:avLst/>
          </a:prstGeom>
          <a:solidFill>
            <a:srgbClr val="992F2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No DMZ — web server on internal network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25359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084"/>
                </a:solidFill>
              </a:rPr>
              <a:t>Isolate web server in DMZ from internal systems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820519"/>
            <a:ext cx="3931920" cy="548640"/>
          </a:xfrm>
          <a:prstGeom prst="rect">
            <a:avLst/>
          </a:prstGeom>
          <a:solidFill>
            <a:srgbClr val="992F2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820519"/>
            <a:ext cx="4114800" cy="548640"/>
          </a:xfrm>
          <a:prstGeom prst="rect">
            <a:avLst/>
          </a:prstGeom>
          <a:solidFill>
            <a:srgbClr val="0A2010"/>
          </a:solidFill>
          <a:ln w="12700">
            <a:solidFill>
              <a:srgbClr val="1A4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11959"/>
            <a:ext cx="3657600" cy="365760"/>
          </a:xfrm>
          <a:prstGeom prst="rect">
            <a:avLst/>
          </a:prstGeom>
          <a:solidFill>
            <a:srgbClr val="992F2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No high availability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391195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084"/>
                </a:solidFill>
              </a:rPr>
              <a:t>Add failover system for web server uptime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7824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13B92F-5E9F-D4E3-0176-AA6E7D27ED44}"/>
              </a:ext>
            </a:extLst>
          </p:cNvPr>
          <p:cNvSpPr txBox="1"/>
          <p:nvPr/>
        </p:nvSpPr>
        <p:spPr>
          <a:xfrm>
            <a:off x="262517" y="842381"/>
            <a:ext cx="130302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>
                <a:solidFill>
                  <a:srgbClr val="992F2F"/>
                </a:solidFill>
                <a:ea typeface="Calibri"/>
                <a:cs typeface="Calibri"/>
              </a:rPr>
              <a:t>  Current Limitation</a:t>
            </a:r>
            <a:endParaRPr lang="en-US">
              <a:solidFill>
                <a:srgbClr val="992F2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65760" y="228600"/>
            <a:ext cx="5943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A90D9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50292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869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777240"/>
            <a:ext cx="557784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868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Successfully designed and deployed a secure IT infrastructure for NBM on Ubuntu Linux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50292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099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1600200"/>
            <a:ext cx="557784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Web server (Apache) serves the NBM e-commerce portal over HTTPS with TLS encryption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50292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328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2423160"/>
            <a:ext cx="557784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514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File server (Samba) provides authenticated, admin-only access to company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50292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55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3246120"/>
            <a:ext cx="557784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337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Layered security: HTTPS + UFW firewall + authentication + automated daily backups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50292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788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" y="4069080"/>
            <a:ext cx="5577840" cy="59436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160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Scalable design: /24 in lab, expandable to /17 subnet for 25,000 production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0" y="4754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109</cp:revision>
  <dcterms:created xsi:type="dcterms:W3CDTF">2026-05-07T07:14:14Z</dcterms:created>
  <dcterms:modified xsi:type="dcterms:W3CDTF">2026-05-07T08:18:07Z</dcterms:modified>
</cp:coreProperties>
</file>